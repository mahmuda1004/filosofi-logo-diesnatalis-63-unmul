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7"/>
  </p:notesMasterIdLst>
  <p:handoutMasterIdLst>
    <p:handoutMasterId r:id="rId18"/>
  </p:handoutMasterIdLst>
  <p:sldIdLst>
    <p:sldId id="276" r:id="rId5"/>
    <p:sldId id="311" r:id="rId6"/>
    <p:sldId id="302" r:id="rId7"/>
    <p:sldId id="300" r:id="rId8"/>
    <p:sldId id="304" r:id="rId9"/>
    <p:sldId id="305" r:id="rId10"/>
    <p:sldId id="307" r:id="rId11"/>
    <p:sldId id="281" r:id="rId12"/>
    <p:sldId id="308" r:id="rId13"/>
    <p:sldId id="295" r:id="rId14"/>
    <p:sldId id="293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00"/>
    <a:srgbClr val="337832"/>
    <a:srgbClr val="347B33"/>
    <a:srgbClr val="5C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6327" autoAdjust="0"/>
  </p:normalViewPr>
  <p:slideViewPr>
    <p:cSldViewPr snapToGrid="0">
      <p:cViewPr>
        <p:scale>
          <a:sx n="50" d="100"/>
          <a:sy n="50" d="100"/>
        </p:scale>
        <p:origin x="1284" y="144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9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423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44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329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2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10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4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777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449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58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49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  <p:sldLayoutId id="2147483722" r:id="rId1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11" Type="http://schemas.openxmlformats.org/officeDocument/2006/relationships/image" Target="../media/image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460068"/>
            <a:ext cx="7797799" cy="2543594"/>
          </a:xfrm>
        </p:spPr>
        <p:txBody>
          <a:bodyPr/>
          <a:lstStyle/>
          <a:p>
            <a:r>
              <a:rPr lang="pt-BR" dirty="0"/>
              <a:t>Filosofi Desain Logo Dies Natalis ke-63 Universitas Mulawarman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CDE009-7209-2BFF-322E-ABA823C6F2D7}"/>
              </a:ext>
            </a:extLst>
          </p:cNvPr>
          <p:cNvSpPr txBox="1">
            <a:spLocks/>
          </p:cNvSpPr>
          <p:nvPr/>
        </p:nvSpPr>
        <p:spPr>
          <a:xfrm>
            <a:off x="2349500" y="1231900"/>
            <a:ext cx="7797799" cy="254359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MAHMUDA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E4E699-AA5E-4A9B-EDF8-D0C0B0AEB63E}"/>
              </a:ext>
            </a:extLst>
          </p:cNvPr>
          <p:cNvSpPr/>
          <p:nvPr/>
        </p:nvSpPr>
        <p:spPr>
          <a:xfrm>
            <a:off x="9438968" y="4267199"/>
            <a:ext cx="2212258" cy="192712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D4558584-9662-0324-B44D-EB70172E1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160" y="3429000"/>
            <a:ext cx="3358277" cy="33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Angka 63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48A4-F77F-58BC-3D7D-6D8CAE03809A}"/>
              </a:ext>
            </a:extLst>
          </p:cNvPr>
          <p:cNvSpPr/>
          <p:nvPr/>
        </p:nvSpPr>
        <p:spPr>
          <a:xfrm>
            <a:off x="9546189" y="151329"/>
            <a:ext cx="1915427" cy="1838425"/>
          </a:xfrm>
          <a:prstGeom prst="rect">
            <a:avLst/>
          </a:prstGeom>
          <a:solidFill>
            <a:srgbClr val="5C1A1D"/>
          </a:solidFill>
          <a:ln>
            <a:solidFill>
              <a:srgbClr val="5C1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32E0F52-A498-C064-1277-6B073AA9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780" y="984562"/>
            <a:ext cx="4698481" cy="4698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6C05C-3E61-B981-340B-068D01BD4076}"/>
              </a:ext>
            </a:extLst>
          </p:cNvPr>
          <p:cNvSpPr/>
          <p:nvPr/>
        </p:nvSpPr>
        <p:spPr>
          <a:xfrm>
            <a:off x="8271933" y="2531533"/>
            <a:ext cx="2379134" cy="2494213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5FCED45-2ACF-3217-9238-F6CB02E3FC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806" y="2578922"/>
            <a:ext cx="56095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Angka "63"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tengah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logo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perayaan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ulang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tahun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Mulawarman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ke-63 (1962–2025).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 Light (Body)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Warna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Kuning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Cerah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Menggambarkan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optimisme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pencapaian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, dan masa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depan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universitas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lebih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baik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Light (Body)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3816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dirty="0" err="1"/>
              <a:t>Daun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48A4-F77F-58BC-3D7D-6D8CAE03809A}"/>
              </a:ext>
            </a:extLst>
          </p:cNvPr>
          <p:cNvSpPr/>
          <p:nvPr/>
        </p:nvSpPr>
        <p:spPr>
          <a:xfrm>
            <a:off x="9546189" y="151329"/>
            <a:ext cx="1915427" cy="1838425"/>
          </a:xfrm>
          <a:prstGeom prst="rect">
            <a:avLst/>
          </a:prstGeom>
          <a:solidFill>
            <a:srgbClr val="5C1A1D"/>
          </a:solidFill>
          <a:ln>
            <a:solidFill>
              <a:srgbClr val="5C1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32E0F52-A498-C064-1277-6B073AA9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780" y="984562"/>
            <a:ext cx="4698481" cy="4698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6C05C-3E61-B981-340B-068D01BD4076}"/>
              </a:ext>
            </a:extLst>
          </p:cNvPr>
          <p:cNvSpPr/>
          <p:nvPr/>
        </p:nvSpPr>
        <p:spPr>
          <a:xfrm>
            <a:off x="7846142" y="1651819"/>
            <a:ext cx="2192593" cy="1337187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5FCED45-2ACF-3217-9238-F6CB02E3FC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806" y="2440423"/>
            <a:ext cx="56095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hijau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melingkari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angka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"63",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kelestarian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Berkaitan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lingkungan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tropis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Kalimantan Timur.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Simbol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keberlanjutan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pertumbuhan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tanggung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jawab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terhadap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90849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Garis </a:t>
            </a:r>
            <a:r>
              <a:rPr lang="en-ID" dirty="0" err="1"/>
              <a:t>Melengkung</a:t>
            </a:r>
            <a:r>
              <a:rPr lang="en-ID" dirty="0"/>
              <a:t> Hijau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48A4-F77F-58BC-3D7D-6D8CAE03809A}"/>
              </a:ext>
            </a:extLst>
          </p:cNvPr>
          <p:cNvSpPr/>
          <p:nvPr/>
        </p:nvSpPr>
        <p:spPr>
          <a:xfrm>
            <a:off x="9546189" y="151329"/>
            <a:ext cx="1915427" cy="1838425"/>
          </a:xfrm>
          <a:prstGeom prst="rect">
            <a:avLst/>
          </a:prstGeom>
          <a:solidFill>
            <a:srgbClr val="5C1A1D"/>
          </a:solidFill>
          <a:ln>
            <a:solidFill>
              <a:srgbClr val="5C1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32E0F52-A498-C064-1277-6B073AA9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948" y="984562"/>
            <a:ext cx="4698481" cy="4698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97FDFC-9476-A815-E079-0B7682474D0B}"/>
              </a:ext>
            </a:extLst>
          </p:cNvPr>
          <p:cNvSpPr/>
          <p:nvPr/>
        </p:nvSpPr>
        <p:spPr>
          <a:xfrm>
            <a:off x="7561007" y="3038168"/>
            <a:ext cx="3900610" cy="1484671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A4BD26-3AD6-5533-7B1C-794FA67E6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150" y="2413337"/>
            <a:ext cx="573732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hijau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melengkung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mencerminkan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Sungai Mahakam.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kelincahan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dinamisnya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perkembangan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Mulawarman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tahun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0228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Warna</a:t>
            </a:r>
            <a:r>
              <a:rPr lang="en-ID" dirty="0"/>
              <a:t> Hijau dan </a:t>
            </a:r>
            <a:r>
              <a:rPr lang="en-ID" dirty="0" err="1"/>
              <a:t>Kuning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48A4-F77F-58BC-3D7D-6D8CAE03809A}"/>
              </a:ext>
            </a:extLst>
          </p:cNvPr>
          <p:cNvSpPr/>
          <p:nvPr/>
        </p:nvSpPr>
        <p:spPr>
          <a:xfrm>
            <a:off x="9546189" y="151329"/>
            <a:ext cx="1915427" cy="1838425"/>
          </a:xfrm>
          <a:prstGeom prst="rect">
            <a:avLst/>
          </a:prstGeom>
          <a:solidFill>
            <a:srgbClr val="5C1A1D"/>
          </a:solidFill>
          <a:ln>
            <a:solidFill>
              <a:srgbClr val="5C1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32E0F52-A498-C064-1277-6B073AA9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948" y="984562"/>
            <a:ext cx="4698481" cy="469848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4CAA0DB-3209-4F78-270D-EBEE39F03A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150" y="2774720"/>
            <a:ext cx="565867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Hijau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harmoni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pertumbuhan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keberlanjutan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semangat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energi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kemakmuran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Kombinasi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warna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mencerminkan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kontribusi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pengembangan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pendidikan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lingkungan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9D6AF-F34B-F1BC-F291-EE1B6DE66823}"/>
              </a:ext>
            </a:extLst>
          </p:cNvPr>
          <p:cNvSpPr/>
          <p:nvPr/>
        </p:nvSpPr>
        <p:spPr>
          <a:xfrm>
            <a:off x="8312372" y="5161935"/>
            <a:ext cx="747252" cy="711503"/>
          </a:xfrm>
          <a:prstGeom prst="rect">
            <a:avLst/>
          </a:prstGeom>
          <a:solidFill>
            <a:srgbClr val="337832"/>
          </a:solidFill>
          <a:ln>
            <a:solidFill>
              <a:srgbClr val="3378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F0BDC2-9E48-0B3B-DD9C-8952C6D58026}"/>
              </a:ext>
            </a:extLst>
          </p:cNvPr>
          <p:cNvSpPr/>
          <p:nvPr/>
        </p:nvSpPr>
        <p:spPr>
          <a:xfrm>
            <a:off x="9546188" y="5161935"/>
            <a:ext cx="747252" cy="711503"/>
          </a:xfrm>
          <a:prstGeom prst="rect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678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Teks “1962–2025 Universitas </a:t>
            </a:r>
            <a:r>
              <a:rPr lang="en-ID" dirty="0" err="1"/>
              <a:t>Mulawarman</a:t>
            </a:r>
            <a:r>
              <a:rPr lang="en-ID" dirty="0"/>
              <a:t>”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48A4-F77F-58BC-3D7D-6D8CAE03809A}"/>
              </a:ext>
            </a:extLst>
          </p:cNvPr>
          <p:cNvSpPr/>
          <p:nvPr/>
        </p:nvSpPr>
        <p:spPr>
          <a:xfrm>
            <a:off x="9546189" y="151329"/>
            <a:ext cx="1915427" cy="1838425"/>
          </a:xfrm>
          <a:prstGeom prst="rect">
            <a:avLst/>
          </a:prstGeom>
          <a:solidFill>
            <a:srgbClr val="5C1A1D"/>
          </a:solidFill>
          <a:ln>
            <a:solidFill>
              <a:srgbClr val="5C1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32E0F52-A498-C064-1277-6B073AA9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948" y="984562"/>
            <a:ext cx="4698481" cy="4698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FB5148-906E-3AF8-A876-798B057D404B}"/>
              </a:ext>
            </a:extLst>
          </p:cNvPr>
          <p:cNvSpPr/>
          <p:nvPr/>
        </p:nvSpPr>
        <p:spPr>
          <a:xfrm>
            <a:off x="9546189" y="2418735"/>
            <a:ext cx="1554430" cy="757084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9A2A7E-A680-0DAA-801B-A666AD2F38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150" y="2569937"/>
            <a:ext cx="567833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Memberikan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konteks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sejarah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menandai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keberadaan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sejak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tahun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1962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hingga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perayaan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tahun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Desain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elegan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mencerminkan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keunggulan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akademik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universitas. </a:t>
            </a:r>
          </a:p>
        </p:txBody>
      </p:sp>
    </p:spTree>
    <p:extLst>
      <p:ext uri="{BB962C8B-B14F-4D97-AF65-F5344CB8AC3E}">
        <p14:creationId xmlns:p14="http://schemas.microsoft.com/office/powerpoint/2010/main" val="247024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267A-FDB8-2BC0-517B-21E59BF5C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568" y="0"/>
            <a:ext cx="5565058" cy="2138400"/>
          </a:xfrm>
        </p:spPr>
        <p:txBody>
          <a:bodyPr/>
          <a:lstStyle/>
          <a:p>
            <a:r>
              <a:rPr lang="en-ID" dirty="0"/>
              <a:t>Visual Identity Guide - </a:t>
            </a:r>
            <a:r>
              <a:rPr lang="en-ID" dirty="0" err="1"/>
              <a:t>Struktur</a:t>
            </a:r>
            <a:r>
              <a:rPr lang="en-ID" dirty="0"/>
              <a:t> Logo</a:t>
            </a:r>
          </a:p>
        </p:txBody>
      </p:sp>
      <p:pic>
        <p:nvPicPr>
          <p:cNvPr id="5" name="Picture 4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93917943-A4C5-7750-95E9-E9FCDDD6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37" y="849889"/>
            <a:ext cx="2946908" cy="294690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8A5BD25-65EB-3727-B543-17469500DA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24116" y="2487842"/>
            <a:ext cx="50832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mengintegrasikan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angka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63,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garis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melengkung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Menampilkan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keseimbangan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unsur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akademis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Mencerminkan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kelestarian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lingkungan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4244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Palet</a:t>
            </a:r>
            <a:r>
              <a:rPr lang="en-ID" dirty="0"/>
              <a:t> </a:t>
            </a:r>
            <a:r>
              <a:rPr lang="en-ID" dirty="0" err="1"/>
              <a:t>Warna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347E8622-56DC-1A88-24E4-A395C3B13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5" y="2027751"/>
            <a:ext cx="3098900" cy="3098900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08FFEC93-8070-CD98-C371-C68E8D58770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45117" y="2541328"/>
            <a:ext cx="588952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Hijau (#337832)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kesegaran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kehidupan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harmoni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(#ffb800)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Melambangkan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optimisme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semangat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pencapaian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Kombinasi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warna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mengekspresikan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semangat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pelestarian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perkembangan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positif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pendidikan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7C53C2-3084-5FA1-FD88-C3296DE2AB6F}"/>
              </a:ext>
            </a:extLst>
          </p:cNvPr>
          <p:cNvSpPr/>
          <p:nvPr/>
        </p:nvSpPr>
        <p:spPr>
          <a:xfrm>
            <a:off x="4336165" y="2541328"/>
            <a:ext cx="580103" cy="550606"/>
          </a:xfrm>
          <a:prstGeom prst="ellipse">
            <a:avLst/>
          </a:prstGeom>
          <a:solidFill>
            <a:srgbClr val="347B33"/>
          </a:solidFill>
          <a:ln>
            <a:solidFill>
              <a:srgbClr val="3378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7BD6C8-78C4-90D9-B117-B6EE46F958CA}"/>
              </a:ext>
            </a:extLst>
          </p:cNvPr>
          <p:cNvSpPr/>
          <p:nvPr/>
        </p:nvSpPr>
        <p:spPr>
          <a:xfrm>
            <a:off x="4336165" y="3429000"/>
            <a:ext cx="580103" cy="550606"/>
          </a:xfrm>
          <a:prstGeom prst="ellipse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Tipografi</a:t>
            </a:r>
            <a:r>
              <a:rPr lang="en-ID" dirty="0"/>
              <a:t> LOGO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347E8622-56DC-1A88-24E4-A395C3B13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5" y="2027751"/>
            <a:ext cx="3098900" cy="30989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5189AA0-6E6D-D624-A660-C1AE6DB2E63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36165" y="2284539"/>
            <a:ext cx="72168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Angka "63":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ITC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Benguiat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Teks "Universitas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Mulawarman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EFCO Brookshire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Tahun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"1962–2025":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font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Anaktoria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Kombinasi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memberikan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kokoh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berwibawa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782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352076-65B5-C2DF-1B98-F53DD1D9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Penggunaan Logo di Media Berbeda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B0AC9C-0433-6B83-4743-3A4559BB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38" y="2759076"/>
            <a:ext cx="5364111" cy="3009899"/>
          </a:xfrm>
        </p:spPr>
        <p:txBody>
          <a:bodyPr/>
          <a:lstStyle/>
          <a:p>
            <a:r>
              <a:rPr lang="en-ID" dirty="0"/>
              <a:t>Media yang </a:t>
            </a:r>
            <a:r>
              <a:rPr lang="en-ID" dirty="0" err="1"/>
              <a:t>direkomendasikan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Sampul</a:t>
            </a:r>
            <a:r>
              <a:rPr lang="en-ID" b="1" dirty="0"/>
              <a:t> </a:t>
            </a:r>
            <a:r>
              <a:rPr lang="en-ID" b="1" dirty="0" err="1"/>
              <a:t>Buku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Kaos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Topi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Poster </a:t>
            </a:r>
            <a:r>
              <a:rPr lang="en-ID" b="1" dirty="0" err="1"/>
              <a:t>atau</a:t>
            </a:r>
            <a:r>
              <a:rPr lang="en-ID" b="1" dirty="0"/>
              <a:t> Banner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Mug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Website dan Media Sosial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b="1" dirty="0"/>
              <a:t> Tote Bag</a:t>
            </a:r>
            <a:endParaRPr lang="en-ID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5C2B391-4359-7B88-C095-2F08B2E781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27" b="26727"/>
          <a:stretch>
            <a:fillRect/>
          </a:stretch>
        </p:blipFill>
        <p:spPr>
          <a:xfrm>
            <a:off x="186967" y="548641"/>
            <a:ext cx="2058393" cy="1198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00A4F-297F-415C-E7AB-6F8E9AF11B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214" y="547807"/>
            <a:ext cx="1327258" cy="1659343"/>
          </a:xfrm>
          <a:prstGeom prst="rect">
            <a:avLst/>
          </a:prstGeom>
        </p:spPr>
      </p:pic>
      <p:pic>
        <p:nvPicPr>
          <p:cNvPr id="8" name="Picture 7" descr="A white hat with a logo on it&#10;&#10;Description automatically generated">
            <a:extLst>
              <a:ext uri="{FF2B5EF4-FFF2-40B4-BE49-F238E27FC236}">
                <a16:creationId xmlns:a16="http://schemas.microsoft.com/office/drawing/2014/main" id="{9C0151E6-89CC-AE52-68A6-0ACBB5A84C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3" y="1811973"/>
            <a:ext cx="980423" cy="1225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E1B6B3-2FFE-9ECA-B376-26897B8D2E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031" y="2509450"/>
            <a:ext cx="1327258" cy="2256446"/>
          </a:xfrm>
          <a:prstGeom prst="rect">
            <a:avLst/>
          </a:prstGeom>
        </p:spPr>
      </p:pic>
      <p:pic>
        <p:nvPicPr>
          <p:cNvPr id="10" name="Picture 9" descr="A close up of a white fabric&#10;&#10;Description automatically generated">
            <a:extLst>
              <a:ext uri="{FF2B5EF4-FFF2-40B4-BE49-F238E27FC236}">
                <a16:creationId xmlns:a16="http://schemas.microsoft.com/office/drawing/2014/main" id="{4D1DD18F-86C8-BB1D-F450-0EC1AAA296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7" y="5364362"/>
            <a:ext cx="2730413" cy="13649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2D076-4C35-13D4-FB79-567CFAC5A5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215" y="2355233"/>
            <a:ext cx="1144355" cy="1430523"/>
          </a:xfrm>
          <a:prstGeom prst="rect">
            <a:avLst/>
          </a:prstGeom>
        </p:spPr>
      </p:pic>
      <p:pic>
        <p:nvPicPr>
          <p:cNvPr id="12" name="Picture 11" descr="A computer and phone with a logo on the screen&#10;&#10;Description automatically generated">
            <a:extLst>
              <a:ext uri="{FF2B5EF4-FFF2-40B4-BE49-F238E27FC236}">
                <a16:creationId xmlns:a16="http://schemas.microsoft.com/office/drawing/2014/main" id="{FE9A1FB0-EEE3-9A2B-9080-C265738B2B2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22" y="3407420"/>
            <a:ext cx="1222178" cy="15281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E11251-2EAA-CF00-99EE-B1C7D6D5F7E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312" y="3936010"/>
            <a:ext cx="1488270" cy="1247541"/>
          </a:xfrm>
          <a:prstGeom prst="rect">
            <a:avLst/>
          </a:prstGeom>
        </p:spPr>
      </p:pic>
      <p:pic>
        <p:nvPicPr>
          <p:cNvPr id="16" name="Picture 15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D56A2E4D-A964-65B9-C77C-E855F07271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5173" y="4621173"/>
            <a:ext cx="2236827" cy="223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4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8AAD-ED41-A5A5-C08E-89B0C4F5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Warna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D12286-B46D-0C40-0363-BAC85397DBE0}"/>
              </a:ext>
            </a:extLst>
          </p:cNvPr>
          <p:cNvSpPr>
            <a:spLocks noGrp="1" noChangeArrowheads="1"/>
          </p:cNvSpPr>
          <p:nvPr>
            <p:ph sz="quarter" idx="17"/>
          </p:nvPr>
        </p:nvSpPr>
        <p:spPr bwMode="auto">
          <a:xfrm>
            <a:off x="2057399" y="2413230"/>
            <a:ext cx="3784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belakang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putih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transparan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kontras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monokrom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jika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diterapkan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gelap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6" name="Content Placeholder 5" descr="A logo with leaves and numbers&#10;&#10;Description automatically generated">
            <a:extLst>
              <a:ext uri="{FF2B5EF4-FFF2-40B4-BE49-F238E27FC236}">
                <a16:creationId xmlns:a16="http://schemas.microsoft.com/office/drawing/2014/main" id="{FEB51F5F-7A53-8042-3227-21FDFD4C9D58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360" y="4047296"/>
            <a:ext cx="1438470" cy="1438470"/>
          </a:xfrm>
          <a:prstGeom prst="rect">
            <a:avLst/>
          </a:prstGeom>
        </p:spPr>
      </p:pic>
      <p:pic>
        <p:nvPicPr>
          <p:cNvPr id="7" name="Picture 6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B9DE77F9-CE85-E617-8CE4-B920EB021A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360" y="2413230"/>
            <a:ext cx="1438470" cy="1438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51233E38-E233-310F-0079-C912BA2B23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273" y="2413230"/>
            <a:ext cx="1438470" cy="1438470"/>
          </a:xfrm>
          <a:prstGeom prst="rect">
            <a:avLst/>
          </a:prstGeom>
        </p:spPr>
      </p:pic>
      <p:pic>
        <p:nvPicPr>
          <p:cNvPr id="9" name="Picture 8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8CAC054B-C473-FEAE-358B-D09FF47DD5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618" y="4047296"/>
            <a:ext cx="1438470" cy="1438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1778-CA00-9C5D-EE59-DCAB4886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  <p:pic>
        <p:nvPicPr>
          <p:cNvPr id="3" name="Picture 2" descr="A yellow and green logo with green leaves&#10;&#10;Description automatically generated">
            <a:extLst>
              <a:ext uri="{FF2B5EF4-FFF2-40B4-BE49-F238E27FC236}">
                <a16:creationId xmlns:a16="http://schemas.microsoft.com/office/drawing/2014/main" id="{3811E5BB-56ED-4EB7-878A-C9CF5820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174" y="3517371"/>
            <a:ext cx="2172230" cy="21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0407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{4B10D4E2-52A9-4674-9C53-9AD44F095B27}tf22339732_win32</Template>
  <TotalTime>472</TotalTime>
  <Words>373</Words>
  <Application>Microsoft Office PowerPoint</Application>
  <PresentationFormat>Widescreen</PresentationFormat>
  <Paragraphs>77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Avenir Next LT Pro Light</vt:lpstr>
      <vt:lpstr>Avenir Next LT Pro Light (Body)</vt:lpstr>
      <vt:lpstr>Calibri</vt:lpstr>
      <vt:lpstr>Rockwell Nova Light</vt:lpstr>
      <vt:lpstr>Wingdings</vt:lpstr>
      <vt:lpstr>LeafVTI</vt:lpstr>
      <vt:lpstr>Filosofi Desain Logo Dies Natalis ke-63 Universitas Mulawarman</vt:lpstr>
      <vt:lpstr>Angka 63</vt:lpstr>
      <vt:lpstr>Simbol Daun</vt:lpstr>
      <vt:lpstr>Garis Melengkung Hijau</vt:lpstr>
      <vt:lpstr>Warna Hijau dan Kuning</vt:lpstr>
      <vt:lpstr>Teks “1962–2025 Universitas Mulawarman”</vt:lpstr>
      <vt:lpstr>Visual Identity Guide - Struktur Logo</vt:lpstr>
      <vt:lpstr>Palet Warna</vt:lpstr>
      <vt:lpstr>Tipografi LOGO</vt:lpstr>
      <vt:lpstr>Penggunaan Logo di Media Berbeda</vt:lpstr>
      <vt:lpstr>Aplikasi Warna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Mahmuda 1004</dc:creator>
  <cp:lastModifiedBy>Mahmuda 1004</cp:lastModifiedBy>
  <cp:revision>3</cp:revision>
  <dcterms:created xsi:type="dcterms:W3CDTF">2024-09-26T18:26:44Z</dcterms:created>
  <dcterms:modified xsi:type="dcterms:W3CDTF">2025-11-28T08:26:43Z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